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08"/>
        <p:guide pos="2877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49" name="组合 9"/>
          <p:cNvGrpSpPr/>
          <p:nvPr/>
        </p:nvGrpSpPr>
        <p:grpSpPr>
          <a:xfrm>
            <a:off x="2637155" y="3084830"/>
            <a:ext cx="1083945" cy="643255"/>
            <a:chOff x="396" y="2731"/>
            <a:chExt cx="1701" cy="1013"/>
          </a:xfrm>
        </p:grpSpPr>
        <p:sp>
          <p:nvSpPr>
            <p:cNvPr id="6" name="流程图: 可选过程 5"/>
            <p:cNvSpPr/>
            <p:nvPr/>
          </p:nvSpPr>
          <p:spPr>
            <a:xfrm>
              <a:off x="396" y="2731"/>
              <a:ext cx="1701" cy="1013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051" name="文本框 6"/>
            <p:cNvSpPr txBox="1"/>
            <p:nvPr/>
          </p:nvSpPr>
          <p:spPr>
            <a:xfrm>
              <a:off x="540" y="2814"/>
              <a:ext cx="1444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400">
                  <a:latin typeface="华文细黑" charset="-122"/>
                  <a:ea typeface="华文细黑" charset="-122"/>
                </a:rPr>
                <a:t>广州总部调度中心</a:t>
              </a:r>
              <a:endParaRPr lang="zh-CN" altLang="en-US" sz="1400">
                <a:latin typeface="华文细黑" charset="-122"/>
                <a:ea typeface="华文细黑" charset="-122"/>
              </a:endParaRPr>
            </a:p>
          </p:txBody>
        </p:sp>
      </p:grpSp>
      <p:grpSp>
        <p:nvGrpSpPr>
          <p:cNvPr id="2052" name="组合 32"/>
          <p:cNvGrpSpPr/>
          <p:nvPr/>
        </p:nvGrpSpPr>
        <p:grpSpPr>
          <a:xfrm>
            <a:off x="1327150" y="2898775"/>
            <a:ext cx="506413" cy="274638"/>
            <a:chOff x="1354" y="5725"/>
            <a:chExt cx="798" cy="434"/>
          </a:xfrm>
        </p:grpSpPr>
        <p:sp>
          <p:nvSpPr>
            <p:cNvPr id="34" name="流程图: 可选过程 33"/>
            <p:cNvSpPr/>
            <p:nvPr/>
          </p:nvSpPr>
          <p:spPr>
            <a:xfrm>
              <a:off x="1354" y="5738"/>
              <a:ext cx="798" cy="409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054" name="文本框 34"/>
            <p:cNvSpPr txBox="1"/>
            <p:nvPr/>
          </p:nvSpPr>
          <p:spPr>
            <a:xfrm>
              <a:off x="1360" y="5725"/>
              <a:ext cx="786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200">
                  <a:latin typeface="华文细黑" charset="-122"/>
                  <a:ea typeface="华文细黑" charset="-122"/>
                </a:rPr>
                <a:t>同城</a:t>
              </a:r>
              <a:endParaRPr lang="zh-CN" altLang="en-US" sz="1200">
                <a:latin typeface="华文细黑" charset="-122"/>
                <a:ea typeface="华文细黑" charset="-122"/>
              </a:endParaRPr>
            </a:p>
          </p:txBody>
        </p:sp>
      </p:grpSp>
      <p:sp>
        <p:nvSpPr>
          <p:cNvPr id="2055" name="文本框 35"/>
          <p:cNvSpPr txBox="1"/>
          <p:nvPr/>
        </p:nvSpPr>
        <p:spPr>
          <a:xfrm>
            <a:off x="565150" y="2682875"/>
            <a:ext cx="595313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r"/>
            <a:r>
              <a:rPr lang="zh-CN" altLang="en-US" sz="1000">
                <a:latin typeface="华文细黑" charset="-122"/>
                <a:ea typeface="华文细黑" charset="-122"/>
              </a:rPr>
              <a:t>站点</a:t>
            </a:r>
            <a:r>
              <a:rPr lang="en-US" altLang="zh-CN" sz="1000">
                <a:latin typeface="华文细黑" charset="-122"/>
                <a:ea typeface="华文细黑" charset="-122"/>
              </a:rPr>
              <a:t>1 </a:t>
            </a:r>
            <a:endParaRPr lang="en-US" altLang="zh-CN" sz="1000">
              <a:latin typeface="华文细黑" charset="-122"/>
              <a:ea typeface="华文细黑" charset="-122"/>
            </a:endParaRPr>
          </a:p>
          <a:p>
            <a:pPr algn="r"/>
            <a:r>
              <a:rPr lang="zh-CN" altLang="en-US" sz="1000">
                <a:latin typeface="华文细黑" charset="-122"/>
                <a:ea typeface="华文细黑" charset="-122"/>
              </a:rPr>
              <a:t>站点</a:t>
            </a:r>
            <a:r>
              <a:rPr lang="en-US" altLang="zh-CN" sz="1000">
                <a:latin typeface="华文细黑" charset="-122"/>
                <a:ea typeface="华文细黑" charset="-122"/>
              </a:rPr>
              <a:t>2</a:t>
            </a:r>
            <a:endParaRPr lang="en-US" altLang="zh-CN" sz="1000">
              <a:latin typeface="华文细黑" charset="-122"/>
              <a:ea typeface="华文细黑" charset="-122"/>
            </a:endParaRPr>
          </a:p>
          <a:p>
            <a:pPr algn="r"/>
            <a:r>
              <a:rPr lang="zh-CN" altLang="en-US" sz="1000">
                <a:latin typeface="华文细黑" charset="-122"/>
                <a:ea typeface="华文细黑" charset="-122"/>
              </a:rPr>
              <a:t>站点</a:t>
            </a:r>
            <a:r>
              <a:rPr lang="en-US" altLang="zh-CN" sz="1000">
                <a:latin typeface="华文细黑" charset="-122"/>
                <a:ea typeface="华文细黑" charset="-122"/>
              </a:rPr>
              <a:t>3</a:t>
            </a:r>
            <a:endParaRPr lang="en-US" altLang="zh-CN" sz="1000">
              <a:latin typeface="华文细黑" charset="-122"/>
              <a:ea typeface="华文细黑" charset="-122"/>
            </a:endParaRPr>
          </a:p>
          <a:p>
            <a:pPr algn="r"/>
            <a:r>
              <a:rPr lang="zh-CN" altLang="en-US" sz="1000">
                <a:latin typeface="华文细黑" charset="-122"/>
                <a:ea typeface="华文细黑" charset="-122"/>
              </a:rPr>
              <a:t>站点</a:t>
            </a:r>
            <a:r>
              <a:rPr lang="en-US" altLang="zh-CN" sz="1000">
                <a:latin typeface="华文细黑" charset="-122"/>
                <a:ea typeface="华文细黑" charset="-122"/>
              </a:rPr>
              <a:t>4</a:t>
            </a:r>
            <a:endParaRPr lang="en-US" altLang="zh-CN" sz="1000">
              <a:latin typeface="华文细黑" charset="-122"/>
              <a:ea typeface="华文细黑" charset="-122"/>
            </a:endParaRPr>
          </a:p>
        </p:txBody>
      </p:sp>
      <p:grpSp>
        <p:nvGrpSpPr>
          <p:cNvPr id="2056" name="组合 36"/>
          <p:cNvGrpSpPr/>
          <p:nvPr/>
        </p:nvGrpSpPr>
        <p:grpSpPr>
          <a:xfrm rot="10800000">
            <a:off x="1093788" y="2790825"/>
            <a:ext cx="227012" cy="488950"/>
            <a:chOff x="2208" y="5589"/>
            <a:chExt cx="357" cy="770"/>
          </a:xfrm>
        </p:grpSpPr>
        <p:cxnSp>
          <p:nvCxnSpPr>
            <p:cNvPr id="38" name="直接连接符 37"/>
            <p:cNvCxnSpPr/>
            <p:nvPr/>
          </p:nvCxnSpPr>
          <p:spPr>
            <a:xfrm>
              <a:off x="2413" y="5589"/>
              <a:ext cx="0" cy="7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 flipV="1">
              <a:off x="2413" y="6357"/>
              <a:ext cx="152" cy="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 flipV="1">
              <a:off x="2413" y="6119"/>
              <a:ext cx="152" cy="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 flipV="1">
              <a:off x="2413" y="5874"/>
              <a:ext cx="152" cy="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2413" y="5589"/>
              <a:ext cx="152" cy="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flipH="1">
              <a:off x="2208" y="5969"/>
              <a:ext cx="205" cy="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63" name="组合 52"/>
          <p:cNvGrpSpPr/>
          <p:nvPr/>
        </p:nvGrpSpPr>
        <p:grpSpPr>
          <a:xfrm>
            <a:off x="4324350" y="3173413"/>
            <a:ext cx="917575" cy="398462"/>
            <a:chOff x="4574" y="6489"/>
            <a:chExt cx="1444" cy="626"/>
          </a:xfrm>
        </p:grpSpPr>
        <p:sp>
          <p:nvSpPr>
            <p:cNvPr id="54" name="流程图: 可选过程 53"/>
            <p:cNvSpPr/>
            <p:nvPr/>
          </p:nvSpPr>
          <p:spPr>
            <a:xfrm>
              <a:off x="4584" y="6489"/>
              <a:ext cx="1424" cy="626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065" name="文本框 54"/>
            <p:cNvSpPr txBox="1"/>
            <p:nvPr/>
          </p:nvSpPr>
          <p:spPr>
            <a:xfrm>
              <a:off x="4574" y="6561"/>
              <a:ext cx="1444" cy="4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400">
                  <a:latin typeface="华文细黑" charset="-122"/>
                  <a:ea typeface="华文细黑" charset="-122"/>
                </a:rPr>
                <a:t>尼日利亚</a:t>
              </a:r>
              <a:endParaRPr lang="zh-CN" altLang="en-US" sz="1400">
                <a:latin typeface="华文细黑" charset="-122"/>
                <a:ea typeface="华文细黑" charset="-122"/>
              </a:endParaRPr>
            </a:p>
          </p:txBody>
        </p:sp>
      </p:grpSp>
      <p:grpSp>
        <p:nvGrpSpPr>
          <p:cNvPr id="2066" name="组合 62"/>
          <p:cNvGrpSpPr/>
          <p:nvPr/>
        </p:nvGrpSpPr>
        <p:grpSpPr>
          <a:xfrm>
            <a:off x="5705475" y="3174365"/>
            <a:ext cx="771525" cy="400050"/>
            <a:chOff x="4400" y="2021"/>
            <a:chExt cx="1016" cy="628"/>
          </a:xfrm>
        </p:grpSpPr>
        <p:sp>
          <p:nvSpPr>
            <p:cNvPr id="60" name="流程图: 可选过程 59"/>
            <p:cNvSpPr/>
            <p:nvPr/>
          </p:nvSpPr>
          <p:spPr>
            <a:xfrm>
              <a:off x="4400" y="2021"/>
              <a:ext cx="1016" cy="628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068" name="文本框 60"/>
            <p:cNvSpPr txBox="1"/>
            <p:nvPr/>
          </p:nvSpPr>
          <p:spPr>
            <a:xfrm>
              <a:off x="4406" y="2021"/>
              <a:ext cx="1009" cy="6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200">
                  <a:latin typeface="华文细黑" charset="-122"/>
                  <a:ea typeface="华文细黑" charset="-122"/>
                </a:rPr>
                <a:t>拉各斯</a:t>
              </a:r>
              <a:endParaRPr lang="zh-CN" altLang="en-US" sz="1200">
                <a:latin typeface="华文细黑" charset="-122"/>
                <a:ea typeface="华文细黑" charset="-122"/>
              </a:endParaRPr>
            </a:p>
            <a:p>
              <a:pPr algn="ctr"/>
              <a:r>
                <a:rPr lang="zh-CN" altLang="en-US" sz="800">
                  <a:latin typeface="华文细黑" charset="-122"/>
                  <a:ea typeface="华文细黑" charset="-122"/>
                </a:rPr>
                <a:t>总调度中心</a:t>
              </a:r>
              <a:endParaRPr lang="zh-CN" altLang="en-US" sz="800">
                <a:latin typeface="华文细黑" charset="-122"/>
                <a:ea typeface="华文细黑" charset="-122"/>
              </a:endParaRPr>
            </a:p>
          </p:txBody>
        </p:sp>
      </p:grpSp>
      <p:cxnSp>
        <p:nvCxnSpPr>
          <p:cNvPr id="64" name="直接箭头连接符 63"/>
          <p:cNvCxnSpPr/>
          <p:nvPr/>
        </p:nvCxnSpPr>
        <p:spPr>
          <a:xfrm>
            <a:off x="5235258" y="3366770"/>
            <a:ext cx="42545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4858385" y="1715135"/>
            <a:ext cx="1905" cy="14262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71" name="组合 66"/>
          <p:cNvGrpSpPr/>
          <p:nvPr/>
        </p:nvGrpSpPr>
        <p:grpSpPr>
          <a:xfrm>
            <a:off x="5706745" y="1513840"/>
            <a:ext cx="768985" cy="398780"/>
            <a:chOff x="4400" y="2021"/>
            <a:chExt cx="1016" cy="628"/>
          </a:xfrm>
        </p:grpSpPr>
        <p:sp>
          <p:nvSpPr>
            <p:cNvPr id="68" name="流程图: 可选过程 67"/>
            <p:cNvSpPr/>
            <p:nvPr/>
          </p:nvSpPr>
          <p:spPr>
            <a:xfrm>
              <a:off x="4400" y="2021"/>
              <a:ext cx="1016" cy="628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073" name="文本框 68"/>
            <p:cNvSpPr txBox="1"/>
            <p:nvPr/>
          </p:nvSpPr>
          <p:spPr>
            <a:xfrm>
              <a:off x="4406" y="2021"/>
              <a:ext cx="1009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200">
                  <a:latin typeface="华文细黑" charset="-122"/>
                  <a:ea typeface="华文细黑" charset="-122"/>
                </a:rPr>
                <a:t>卡诺</a:t>
              </a:r>
              <a:endParaRPr lang="zh-CN" altLang="en-US" sz="1200">
                <a:latin typeface="华文细黑" charset="-122"/>
                <a:ea typeface="华文细黑" charset="-122"/>
              </a:endParaRPr>
            </a:p>
            <a:p>
              <a:pPr algn="ctr"/>
              <a:r>
                <a:rPr lang="zh-CN" altLang="en-US" sz="800">
                  <a:latin typeface="华文细黑" charset="-122"/>
                  <a:ea typeface="华文细黑" charset="-122"/>
                </a:rPr>
                <a:t>调度中心</a:t>
              </a:r>
              <a:endParaRPr lang="zh-CN" altLang="en-US" sz="800">
                <a:latin typeface="华文细黑" charset="-122"/>
                <a:ea typeface="华文细黑" charset="-122"/>
              </a:endParaRPr>
            </a:p>
          </p:txBody>
        </p:sp>
      </p:grpSp>
      <p:cxnSp>
        <p:nvCxnSpPr>
          <p:cNvPr id="70" name="直接箭头连接符 69"/>
          <p:cNvCxnSpPr>
            <a:endCxn id="2073" idx="1"/>
          </p:cNvCxnSpPr>
          <p:nvPr/>
        </p:nvCxnSpPr>
        <p:spPr>
          <a:xfrm>
            <a:off x="4860290" y="1713230"/>
            <a:ext cx="8509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75" name="组合 70"/>
          <p:cNvGrpSpPr/>
          <p:nvPr/>
        </p:nvGrpSpPr>
        <p:grpSpPr>
          <a:xfrm>
            <a:off x="7145655" y="1202373"/>
            <a:ext cx="506413" cy="276225"/>
            <a:chOff x="1354" y="5725"/>
            <a:chExt cx="798" cy="434"/>
          </a:xfrm>
        </p:grpSpPr>
        <p:sp>
          <p:nvSpPr>
            <p:cNvPr id="72" name="流程图: 可选过程 71"/>
            <p:cNvSpPr/>
            <p:nvPr/>
          </p:nvSpPr>
          <p:spPr>
            <a:xfrm>
              <a:off x="1354" y="5738"/>
              <a:ext cx="798" cy="409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077" name="文本框 72"/>
            <p:cNvSpPr txBox="1"/>
            <p:nvPr/>
          </p:nvSpPr>
          <p:spPr>
            <a:xfrm>
              <a:off x="1360" y="5725"/>
              <a:ext cx="786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200">
                  <a:latin typeface="华文细黑" charset="-122"/>
                  <a:ea typeface="华文细黑" charset="-122"/>
                </a:rPr>
                <a:t>同城</a:t>
              </a:r>
              <a:endParaRPr lang="zh-CN" altLang="en-US" sz="1200">
                <a:latin typeface="华文细黑" charset="-122"/>
                <a:ea typeface="华文细黑" charset="-122"/>
              </a:endParaRPr>
            </a:p>
          </p:txBody>
        </p:sp>
      </p:grpSp>
      <p:cxnSp>
        <p:nvCxnSpPr>
          <p:cNvPr id="81" name="直接连接符 80"/>
          <p:cNvCxnSpPr/>
          <p:nvPr/>
        </p:nvCxnSpPr>
        <p:spPr>
          <a:xfrm flipH="1">
            <a:off x="6692900" y="-2171700"/>
            <a:ext cx="2635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79" name="组合 85"/>
          <p:cNvGrpSpPr/>
          <p:nvPr/>
        </p:nvGrpSpPr>
        <p:grpSpPr>
          <a:xfrm>
            <a:off x="7656830" y="988060"/>
            <a:ext cx="1041400" cy="704850"/>
            <a:chOff x="7011" y="228"/>
            <a:chExt cx="1642" cy="1112"/>
          </a:xfrm>
        </p:grpSpPr>
        <p:grpSp>
          <p:nvGrpSpPr>
            <p:cNvPr id="2080" name="组合 73"/>
            <p:cNvGrpSpPr/>
            <p:nvPr/>
          </p:nvGrpSpPr>
          <p:grpSpPr>
            <a:xfrm>
              <a:off x="7244" y="399"/>
              <a:ext cx="152" cy="771"/>
              <a:chOff x="2413" y="5589"/>
              <a:chExt cx="152" cy="771"/>
            </a:xfrm>
          </p:grpSpPr>
          <p:cxnSp>
            <p:nvCxnSpPr>
              <p:cNvPr id="75" name="直接连接符 74"/>
              <p:cNvCxnSpPr/>
              <p:nvPr/>
            </p:nvCxnSpPr>
            <p:spPr>
              <a:xfrm>
                <a:off x="2413" y="5589"/>
                <a:ext cx="0" cy="77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flipH="1" flipV="1">
                <a:off x="2413" y="6357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flipH="1" flipV="1">
                <a:off x="2413" y="611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flipH="1" flipV="1">
                <a:off x="2413" y="5874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flipH="1" flipV="1">
                <a:off x="2413" y="558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86" name="文本框 81"/>
            <p:cNvSpPr txBox="1"/>
            <p:nvPr/>
          </p:nvSpPr>
          <p:spPr>
            <a:xfrm>
              <a:off x="7321" y="228"/>
              <a:ext cx="1333" cy="1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1 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2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3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4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</p:txBody>
        </p:sp>
        <p:cxnSp>
          <p:nvCxnSpPr>
            <p:cNvPr id="83" name="直接箭头连接符 82"/>
            <p:cNvCxnSpPr/>
            <p:nvPr/>
          </p:nvCxnSpPr>
          <p:spPr>
            <a:xfrm>
              <a:off x="7011" y="785"/>
              <a:ext cx="233" cy="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直接连接符 83"/>
          <p:cNvCxnSpPr/>
          <p:nvPr/>
        </p:nvCxnSpPr>
        <p:spPr>
          <a:xfrm flipH="1">
            <a:off x="6885305" y="1354773"/>
            <a:ext cx="2651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89" name="组合 86"/>
          <p:cNvGrpSpPr/>
          <p:nvPr/>
        </p:nvGrpSpPr>
        <p:grpSpPr>
          <a:xfrm>
            <a:off x="7150418" y="1931035"/>
            <a:ext cx="506412" cy="276225"/>
            <a:chOff x="1354" y="5725"/>
            <a:chExt cx="798" cy="434"/>
          </a:xfrm>
        </p:grpSpPr>
        <p:sp>
          <p:nvSpPr>
            <p:cNvPr id="88" name="流程图: 可选过程 87"/>
            <p:cNvSpPr/>
            <p:nvPr/>
          </p:nvSpPr>
          <p:spPr>
            <a:xfrm>
              <a:off x="1354" y="5738"/>
              <a:ext cx="798" cy="409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091" name="文本框 88"/>
            <p:cNvSpPr txBox="1"/>
            <p:nvPr/>
          </p:nvSpPr>
          <p:spPr>
            <a:xfrm>
              <a:off x="1360" y="5725"/>
              <a:ext cx="786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200">
                  <a:latin typeface="华文细黑" charset="-122"/>
                  <a:ea typeface="华文细黑" charset="-122"/>
                </a:rPr>
                <a:t>异地</a:t>
              </a:r>
              <a:endParaRPr lang="zh-CN" altLang="en-US" sz="1200">
                <a:latin typeface="华文细黑" charset="-122"/>
                <a:ea typeface="华文细黑" charset="-122"/>
              </a:endParaRPr>
            </a:p>
          </p:txBody>
        </p:sp>
      </p:grpSp>
      <p:grpSp>
        <p:nvGrpSpPr>
          <p:cNvPr id="2092" name="组合 89"/>
          <p:cNvGrpSpPr/>
          <p:nvPr/>
        </p:nvGrpSpPr>
        <p:grpSpPr>
          <a:xfrm>
            <a:off x="7661593" y="1715135"/>
            <a:ext cx="1042987" cy="706438"/>
            <a:chOff x="7011" y="228"/>
            <a:chExt cx="1642" cy="1112"/>
          </a:xfrm>
        </p:grpSpPr>
        <p:grpSp>
          <p:nvGrpSpPr>
            <p:cNvPr id="2093" name="组合 90"/>
            <p:cNvGrpSpPr/>
            <p:nvPr/>
          </p:nvGrpSpPr>
          <p:grpSpPr>
            <a:xfrm>
              <a:off x="7244" y="399"/>
              <a:ext cx="152" cy="771"/>
              <a:chOff x="2413" y="5589"/>
              <a:chExt cx="152" cy="771"/>
            </a:xfrm>
          </p:grpSpPr>
          <p:cxnSp>
            <p:nvCxnSpPr>
              <p:cNvPr id="92" name="直接连接符 91"/>
              <p:cNvCxnSpPr/>
              <p:nvPr/>
            </p:nvCxnSpPr>
            <p:spPr>
              <a:xfrm>
                <a:off x="2413" y="5589"/>
                <a:ext cx="0" cy="77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 flipH="1" flipV="1">
                <a:off x="2413" y="6357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 flipH="1" flipV="1">
                <a:off x="2413" y="611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 flipH="1" flipV="1">
                <a:off x="2413" y="5874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 flipH="1" flipV="1">
                <a:off x="2413" y="558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99" name="文本框 96"/>
            <p:cNvSpPr txBox="1"/>
            <p:nvPr/>
          </p:nvSpPr>
          <p:spPr>
            <a:xfrm>
              <a:off x="7321" y="228"/>
              <a:ext cx="1333" cy="1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1 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2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3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4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</p:txBody>
        </p:sp>
        <p:cxnSp>
          <p:nvCxnSpPr>
            <p:cNvPr id="98" name="直接箭头连接符 97"/>
            <p:cNvCxnSpPr/>
            <p:nvPr/>
          </p:nvCxnSpPr>
          <p:spPr>
            <a:xfrm>
              <a:off x="7011" y="785"/>
              <a:ext cx="233" cy="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9" name="直接连接符 98"/>
          <p:cNvCxnSpPr/>
          <p:nvPr/>
        </p:nvCxnSpPr>
        <p:spPr>
          <a:xfrm flipH="1">
            <a:off x="6891655" y="2083435"/>
            <a:ext cx="2635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6885305" y="1350010"/>
            <a:ext cx="0" cy="7318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6490970" y="1715135"/>
            <a:ext cx="410210" cy="254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04" name="组合 112"/>
          <p:cNvGrpSpPr/>
          <p:nvPr/>
        </p:nvGrpSpPr>
        <p:grpSpPr>
          <a:xfrm>
            <a:off x="7150418" y="2874010"/>
            <a:ext cx="506412" cy="276225"/>
            <a:chOff x="1354" y="5725"/>
            <a:chExt cx="798" cy="434"/>
          </a:xfrm>
        </p:grpSpPr>
        <p:sp>
          <p:nvSpPr>
            <p:cNvPr id="114" name="流程图: 可选过程 113"/>
            <p:cNvSpPr/>
            <p:nvPr/>
          </p:nvSpPr>
          <p:spPr>
            <a:xfrm>
              <a:off x="1354" y="5738"/>
              <a:ext cx="798" cy="409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106" name="文本框 114"/>
            <p:cNvSpPr txBox="1"/>
            <p:nvPr/>
          </p:nvSpPr>
          <p:spPr>
            <a:xfrm>
              <a:off x="1360" y="5725"/>
              <a:ext cx="786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200">
                  <a:latin typeface="华文细黑" charset="-122"/>
                  <a:ea typeface="华文细黑" charset="-122"/>
                </a:rPr>
                <a:t>同城</a:t>
              </a:r>
              <a:endParaRPr lang="zh-CN" altLang="en-US" sz="1200">
                <a:latin typeface="华文细黑" charset="-122"/>
                <a:ea typeface="华文细黑" charset="-122"/>
              </a:endParaRPr>
            </a:p>
          </p:txBody>
        </p:sp>
      </p:grpSp>
      <p:grpSp>
        <p:nvGrpSpPr>
          <p:cNvPr id="2107" name="组合 115"/>
          <p:cNvGrpSpPr/>
          <p:nvPr/>
        </p:nvGrpSpPr>
        <p:grpSpPr>
          <a:xfrm>
            <a:off x="7661593" y="2659698"/>
            <a:ext cx="1042987" cy="706437"/>
            <a:chOff x="7011" y="228"/>
            <a:chExt cx="1642" cy="1112"/>
          </a:xfrm>
        </p:grpSpPr>
        <p:grpSp>
          <p:nvGrpSpPr>
            <p:cNvPr id="2108" name="组合 116"/>
            <p:cNvGrpSpPr/>
            <p:nvPr/>
          </p:nvGrpSpPr>
          <p:grpSpPr>
            <a:xfrm>
              <a:off x="7244" y="399"/>
              <a:ext cx="152" cy="771"/>
              <a:chOff x="2413" y="5589"/>
              <a:chExt cx="152" cy="771"/>
            </a:xfrm>
          </p:grpSpPr>
          <p:cxnSp>
            <p:nvCxnSpPr>
              <p:cNvPr id="118" name="直接连接符 117"/>
              <p:cNvCxnSpPr/>
              <p:nvPr/>
            </p:nvCxnSpPr>
            <p:spPr>
              <a:xfrm>
                <a:off x="2413" y="5589"/>
                <a:ext cx="0" cy="77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 flipH="1" flipV="1">
                <a:off x="2413" y="6357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 flipH="1" flipV="1">
                <a:off x="2413" y="611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 flipH="1" flipV="1">
                <a:off x="2413" y="5874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 flipH="1" flipV="1">
                <a:off x="2413" y="558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14" name="文本框 122"/>
            <p:cNvSpPr txBox="1"/>
            <p:nvPr/>
          </p:nvSpPr>
          <p:spPr>
            <a:xfrm>
              <a:off x="7321" y="228"/>
              <a:ext cx="1333" cy="1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1 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2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3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4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</p:txBody>
        </p:sp>
        <p:cxnSp>
          <p:nvCxnSpPr>
            <p:cNvPr id="124" name="直接箭头连接符 123"/>
            <p:cNvCxnSpPr/>
            <p:nvPr/>
          </p:nvCxnSpPr>
          <p:spPr>
            <a:xfrm>
              <a:off x="7011" y="785"/>
              <a:ext cx="233" cy="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5" name="直接连接符 124"/>
          <p:cNvCxnSpPr/>
          <p:nvPr/>
        </p:nvCxnSpPr>
        <p:spPr>
          <a:xfrm flipH="1">
            <a:off x="6891655" y="3026410"/>
            <a:ext cx="2635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17" name="组合 125"/>
          <p:cNvGrpSpPr/>
          <p:nvPr/>
        </p:nvGrpSpPr>
        <p:grpSpPr>
          <a:xfrm>
            <a:off x="7155180" y="3602673"/>
            <a:ext cx="506413" cy="276225"/>
            <a:chOff x="1354" y="5725"/>
            <a:chExt cx="798" cy="434"/>
          </a:xfrm>
        </p:grpSpPr>
        <p:sp>
          <p:nvSpPr>
            <p:cNvPr id="127" name="流程图: 可选过程 126"/>
            <p:cNvSpPr/>
            <p:nvPr/>
          </p:nvSpPr>
          <p:spPr>
            <a:xfrm>
              <a:off x="1354" y="5738"/>
              <a:ext cx="798" cy="409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119" name="文本框 127"/>
            <p:cNvSpPr txBox="1"/>
            <p:nvPr/>
          </p:nvSpPr>
          <p:spPr>
            <a:xfrm>
              <a:off x="1360" y="5725"/>
              <a:ext cx="786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200">
                  <a:latin typeface="华文细黑" charset="-122"/>
                  <a:ea typeface="华文细黑" charset="-122"/>
                </a:rPr>
                <a:t>异地</a:t>
              </a:r>
              <a:endParaRPr lang="zh-CN" altLang="en-US" sz="1200">
                <a:latin typeface="华文细黑" charset="-122"/>
                <a:ea typeface="华文细黑" charset="-122"/>
              </a:endParaRPr>
            </a:p>
          </p:txBody>
        </p:sp>
      </p:grpSp>
      <p:grpSp>
        <p:nvGrpSpPr>
          <p:cNvPr id="2120" name="组合 128"/>
          <p:cNvGrpSpPr/>
          <p:nvPr/>
        </p:nvGrpSpPr>
        <p:grpSpPr>
          <a:xfrm>
            <a:off x="7666355" y="3388360"/>
            <a:ext cx="1042988" cy="704850"/>
            <a:chOff x="7011" y="228"/>
            <a:chExt cx="1642" cy="1112"/>
          </a:xfrm>
        </p:grpSpPr>
        <p:grpSp>
          <p:nvGrpSpPr>
            <p:cNvPr id="2121" name="组合 129"/>
            <p:cNvGrpSpPr/>
            <p:nvPr/>
          </p:nvGrpSpPr>
          <p:grpSpPr>
            <a:xfrm>
              <a:off x="7244" y="399"/>
              <a:ext cx="152" cy="771"/>
              <a:chOff x="2413" y="5589"/>
              <a:chExt cx="152" cy="771"/>
            </a:xfrm>
          </p:grpSpPr>
          <p:cxnSp>
            <p:nvCxnSpPr>
              <p:cNvPr id="131" name="直接连接符 130"/>
              <p:cNvCxnSpPr/>
              <p:nvPr/>
            </p:nvCxnSpPr>
            <p:spPr>
              <a:xfrm>
                <a:off x="2413" y="5589"/>
                <a:ext cx="0" cy="77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>
              <a:xfrm flipH="1" flipV="1">
                <a:off x="2413" y="6357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 flipH="1" flipV="1">
                <a:off x="2413" y="611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 flipH="1" flipV="1">
                <a:off x="2413" y="5874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 flipH="1" flipV="1">
                <a:off x="2413" y="558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7" name="文本框 135"/>
            <p:cNvSpPr txBox="1"/>
            <p:nvPr/>
          </p:nvSpPr>
          <p:spPr>
            <a:xfrm>
              <a:off x="7321" y="228"/>
              <a:ext cx="1333" cy="1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1 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2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3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4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</p:txBody>
        </p:sp>
        <p:cxnSp>
          <p:nvCxnSpPr>
            <p:cNvPr id="137" name="直接箭头连接符 136"/>
            <p:cNvCxnSpPr/>
            <p:nvPr/>
          </p:nvCxnSpPr>
          <p:spPr>
            <a:xfrm>
              <a:off x="7011" y="785"/>
              <a:ext cx="233" cy="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8" name="直接连接符 137"/>
          <p:cNvCxnSpPr/>
          <p:nvPr/>
        </p:nvCxnSpPr>
        <p:spPr>
          <a:xfrm flipH="1">
            <a:off x="6896418" y="3755073"/>
            <a:ext cx="2635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/>
        </p:nvCxnSpPr>
        <p:spPr>
          <a:xfrm>
            <a:off x="6891655" y="3023235"/>
            <a:ext cx="0" cy="730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>
            <a:stCxn id="2068" idx="3"/>
          </p:cNvCxnSpPr>
          <p:nvPr/>
        </p:nvCxnSpPr>
        <p:spPr>
          <a:xfrm flipV="1">
            <a:off x="6476365" y="3366770"/>
            <a:ext cx="407670" cy="69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32" name="组合 140"/>
          <p:cNvGrpSpPr/>
          <p:nvPr/>
        </p:nvGrpSpPr>
        <p:grpSpPr>
          <a:xfrm>
            <a:off x="5711825" y="4834890"/>
            <a:ext cx="764540" cy="400241"/>
            <a:chOff x="4400" y="2021"/>
            <a:chExt cx="1016" cy="628"/>
          </a:xfrm>
        </p:grpSpPr>
        <p:sp>
          <p:nvSpPr>
            <p:cNvPr id="142" name="流程图: 可选过程 141"/>
            <p:cNvSpPr/>
            <p:nvPr/>
          </p:nvSpPr>
          <p:spPr>
            <a:xfrm>
              <a:off x="4400" y="2021"/>
              <a:ext cx="1016" cy="628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134" name="文本框 142"/>
            <p:cNvSpPr txBox="1"/>
            <p:nvPr/>
          </p:nvSpPr>
          <p:spPr>
            <a:xfrm>
              <a:off x="4406" y="2021"/>
              <a:ext cx="1009" cy="6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200">
                  <a:latin typeface="华文细黑" charset="-122"/>
                  <a:ea typeface="华文细黑" charset="-122"/>
                </a:rPr>
                <a:t>阿布贾</a:t>
              </a:r>
              <a:endParaRPr lang="zh-CN" altLang="en-US" sz="1200">
                <a:latin typeface="华文细黑" charset="-122"/>
                <a:ea typeface="华文细黑" charset="-122"/>
              </a:endParaRPr>
            </a:p>
            <a:p>
              <a:pPr algn="ctr"/>
              <a:r>
                <a:rPr lang="zh-CN" altLang="en-US" sz="800">
                  <a:latin typeface="华文细黑" charset="-122"/>
                  <a:ea typeface="华文细黑" charset="-122"/>
                </a:rPr>
                <a:t>调度中心</a:t>
              </a:r>
              <a:endParaRPr lang="zh-CN" altLang="en-US" sz="800">
                <a:latin typeface="华文细黑" charset="-122"/>
                <a:ea typeface="华文细黑" charset="-122"/>
              </a:endParaRPr>
            </a:p>
          </p:txBody>
        </p:sp>
      </p:grpSp>
      <p:grpSp>
        <p:nvGrpSpPr>
          <p:cNvPr id="2135" name="组合 143"/>
          <p:cNvGrpSpPr/>
          <p:nvPr/>
        </p:nvGrpSpPr>
        <p:grpSpPr>
          <a:xfrm>
            <a:off x="7155180" y="4534535"/>
            <a:ext cx="508000" cy="276225"/>
            <a:chOff x="1354" y="5725"/>
            <a:chExt cx="798" cy="434"/>
          </a:xfrm>
        </p:grpSpPr>
        <p:sp>
          <p:nvSpPr>
            <p:cNvPr id="145" name="流程图: 可选过程 144"/>
            <p:cNvSpPr/>
            <p:nvPr/>
          </p:nvSpPr>
          <p:spPr>
            <a:xfrm>
              <a:off x="1354" y="5738"/>
              <a:ext cx="798" cy="409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137" name="文本框 145"/>
            <p:cNvSpPr txBox="1"/>
            <p:nvPr/>
          </p:nvSpPr>
          <p:spPr>
            <a:xfrm>
              <a:off x="1360" y="5725"/>
              <a:ext cx="786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200">
                  <a:latin typeface="华文细黑" charset="-122"/>
                  <a:ea typeface="华文细黑" charset="-122"/>
                  <a:sym typeface="宋体" panose="02010600030101010101" pitchFamily="2" charset="-122"/>
                </a:rPr>
                <a:t>同城</a:t>
              </a:r>
              <a:endParaRPr lang="zh-CN" altLang="en-US" sz="1200">
                <a:latin typeface="华文细黑" charset="-122"/>
                <a:ea typeface="华文细黑" charset="-122"/>
              </a:endParaRPr>
            </a:p>
          </p:txBody>
        </p:sp>
      </p:grpSp>
      <p:grpSp>
        <p:nvGrpSpPr>
          <p:cNvPr id="2138" name="组合 146"/>
          <p:cNvGrpSpPr/>
          <p:nvPr/>
        </p:nvGrpSpPr>
        <p:grpSpPr>
          <a:xfrm>
            <a:off x="7666355" y="4320223"/>
            <a:ext cx="1042988" cy="706437"/>
            <a:chOff x="7011" y="228"/>
            <a:chExt cx="1642" cy="1112"/>
          </a:xfrm>
        </p:grpSpPr>
        <p:grpSp>
          <p:nvGrpSpPr>
            <p:cNvPr id="2139" name="组合 147"/>
            <p:cNvGrpSpPr/>
            <p:nvPr/>
          </p:nvGrpSpPr>
          <p:grpSpPr>
            <a:xfrm>
              <a:off x="7244" y="399"/>
              <a:ext cx="152" cy="771"/>
              <a:chOff x="2413" y="5589"/>
              <a:chExt cx="152" cy="771"/>
            </a:xfrm>
          </p:grpSpPr>
          <p:cxnSp>
            <p:nvCxnSpPr>
              <p:cNvPr id="149" name="直接连接符 148"/>
              <p:cNvCxnSpPr/>
              <p:nvPr/>
            </p:nvCxnSpPr>
            <p:spPr>
              <a:xfrm>
                <a:off x="2413" y="5589"/>
                <a:ext cx="0" cy="77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flipH="1" flipV="1">
                <a:off x="2413" y="6357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 flipH="1" flipV="1">
                <a:off x="2413" y="611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/>
              <p:cNvCxnSpPr/>
              <p:nvPr/>
            </p:nvCxnSpPr>
            <p:spPr>
              <a:xfrm flipH="1" flipV="1">
                <a:off x="2413" y="5874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/>
              <p:cNvCxnSpPr/>
              <p:nvPr/>
            </p:nvCxnSpPr>
            <p:spPr>
              <a:xfrm flipH="1" flipV="1">
                <a:off x="2413" y="558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45" name="文本框 153"/>
            <p:cNvSpPr txBox="1"/>
            <p:nvPr/>
          </p:nvSpPr>
          <p:spPr>
            <a:xfrm>
              <a:off x="7321" y="228"/>
              <a:ext cx="1333" cy="1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1 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2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3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4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</p:txBody>
        </p:sp>
        <p:cxnSp>
          <p:nvCxnSpPr>
            <p:cNvPr id="155" name="直接箭头连接符 154"/>
            <p:cNvCxnSpPr/>
            <p:nvPr/>
          </p:nvCxnSpPr>
          <p:spPr>
            <a:xfrm>
              <a:off x="7011" y="785"/>
              <a:ext cx="233" cy="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6" name="直接连接符 155"/>
          <p:cNvCxnSpPr/>
          <p:nvPr/>
        </p:nvCxnSpPr>
        <p:spPr>
          <a:xfrm flipH="1">
            <a:off x="6896418" y="4686935"/>
            <a:ext cx="2651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48" name="组合 156"/>
          <p:cNvGrpSpPr/>
          <p:nvPr/>
        </p:nvGrpSpPr>
        <p:grpSpPr>
          <a:xfrm>
            <a:off x="7161530" y="5263198"/>
            <a:ext cx="506413" cy="276225"/>
            <a:chOff x="1354" y="5725"/>
            <a:chExt cx="798" cy="434"/>
          </a:xfrm>
        </p:grpSpPr>
        <p:sp>
          <p:nvSpPr>
            <p:cNvPr id="158" name="流程图: 可选过程 157"/>
            <p:cNvSpPr/>
            <p:nvPr/>
          </p:nvSpPr>
          <p:spPr>
            <a:xfrm>
              <a:off x="1354" y="5738"/>
              <a:ext cx="798" cy="409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150" name="文本框 158"/>
            <p:cNvSpPr txBox="1"/>
            <p:nvPr/>
          </p:nvSpPr>
          <p:spPr>
            <a:xfrm>
              <a:off x="1360" y="5725"/>
              <a:ext cx="786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200">
                  <a:latin typeface="华文细黑" charset="-122"/>
                  <a:ea typeface="华文细黑" charset="-122"/>
                </a:rPr>
                <a:t>异地</a:t>
              </a:r>
              <a:endParaRPr lang="zh-CN" altLang="en-US" sz="1200">
                <a:latin typeface="华文细黑" charset="-122"/>
                <a:ea typeface="华文细黑" charset="-122"/>
              </a:endParaRPr>
            </a:p>
          </p:txBody>
        </p:sp>
      </p:grpSp>
      <p:grpSp>
        <p:nvGrpSpPr>
          <p:cNvPr id="2151" name="组合 159"/>
          <p:cNvGrpSpPr/>
          <p:nvPr/>
        </p:nvGrpSpPr>
        <p:grpSpPr>
          <a:xfrm>
            <a:off x="7666355" y="5048885"/>
            <a:ext cx="1041400" cy="704850"/>
            <a:chOff x="7011" y="228"/>
            <a:chExt cx="1642" cy="1112"/>
          </a:xfrm>
        </p:grpSpPr>
        <p:grpSp>
          <p:nvGrpSpPr>
            <p:cNvPr id="2152" name="组合 160"/>
            <p:cNvGrpSpPr/>
            <p:nvPr/>
          </p:nvGrpSpPr>
          <p:grpSpPr>
            <a:xfrm>
              <a:off x="7244" y="399"/>
              <a:ext cx="152" cy="771"/>
              <a:chOff x="2413" y="5589"/>
              <a:chExt cx="152" cy="771"/>
            </a:xfrm>
          </p:grpSpPr>
          <p:cxnSp>
            <p:nvCxnSpPr>
              <p:cNvPr id="162" name="直接连接符 161"/>
              <p:cNvCxnSpPr/>
              <p:nvPr/>
            </p:nvCxnSpPr>
            <p:spPr>
              <a:xfrm>
                <a:off x="2413" y="5589"/>
                <a:ext cx="0" cy="77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flipH="1" flipV="1">
                <a:off x="2413" y="6357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 flipH="1" flipV="1">
                <a:off x="2413" y="611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 flipH="1" flipV="1">
                <a:off x="2413" y="5874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 flipH="1" flipV="1">
                <a:off x="2413" y="5589"/>
                <a:ext cx="152" cy="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58" name="文本框 166"/>
            <p:cNvSpPr txBox="1"/>
            <p:nvPr/>
          </p:nvSpPr>
          <p:spPr>
            <a:xfrm>
              <a:off x="7321" y="228"/>
              <a:ext cx="1333" cy="1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1 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2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3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  <a:p>
              <a:r>
                <a:rPr lang="zh-CN" altLang="en-US" sz="1000">
                  <a:latin typeface="华文细黑" charset="-122"/>
                  <a:ea typeface="华文细黑" charset="-122"/>
                </a:rPr>
                <a:t>站点</a:t>
              </a:r>
              <a:r>
                <a:rPr lang="en-US" altLang="zh-CN" sz="1000">
                  <a:latin typeface="华文细黑" charset="-122"/>
                  <a:ea typeface="华文细黑" charset="-122"/>
                </a:rPr>
                <a:t>4</a:t>
              </a:r>
              <a:endParaRPr lang="en-US" altLang="zh-CN" sz="1000">
                <a:latin typeface="华文细黑" charset="-122"/>
                <a:ea typeface="华文细黑" charset="-122"/>
              </a:endParaRPr>
            </a:p>
          </p:txBody>
        </p:sp>
        <p:cxnSp>
          <p:nvCxnSpPr>
            <p:cNvPr id="168" name="直接箭头连接符 167"/>
            <p:cNvCxnSpPr/>
            <p:nvPr/>
          </p:nvCxnSpPr>
          <p:spPr>
            <a:xfrm>
              <a:off x="7011" y="785"/>
              <a:ext cx="233" cy="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9" name="直接连接符 168"/>
          <p:cNvCxnSpPr/>
          <p:nvPr/>
        </p:nvCxnSpPr>
        <p:spPr>
          <a:xfrm flipH="1">
            <a:off x="6901180" y="5415598"/>
            <a:ext cx="2651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>
            <a:off x="6896418" y="4683760"/>
            <a:ext cx="0" cy="730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>
          <a:xfrm>
            <a:off x="6475730" y="5026660"/>
            <a:ext cx="407670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>
            <a:endCxn id="2134" idx="1"/>
          </p:cNvCxnSpPr>
          <p:nvPr/>
        </p:nvCxnSpPr>
        <p:spPr>
          <a:xfrm>
            <a:off x="4858385" y="5029835"/>
            <a:ext cx="857885" cy="444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/>
          <p:nvPr/>
        </p:nvCxnSpPr>
        <p:spPr>
          <a:xfrm>
            <a:off x="3721100" y="3384550"/>
            <a:ext cx="5207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65" name="组合 174"/>
          <p:cNvGrpSpPr/>
          <p:nvPr/>
        </p:nvGrpSpPr>
        <p:grpSpPr>
          <a:xfrm>
            <a:off x="1327150" y="3611563"/>
            <a:ext cx="506413" cy="274637"/>
            <a:chOff x="1354" y="5725"/>
            <a:chExt cx="798" cy="434"/>
          </a:xfrm>
        </p:grpSpPr>
        <p:sp>
          <p:nvSpPr>
            <p:cNvPr id="176" name="流程图: 可选过程 175"/>
            <p:cNvSpPr/>
            <p:nvPr/>
          </p:nvSpPr>
          <p:spPr>
            <a:xfrm>
              <a:off x="1354" y="5738"/>
              <a:ext cx="798" cy="409"/>
            </a:xfrm>
            <a:prstGeom prst="flowChartAlternate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167" name="文本框 176"/>
            <p:cNvSpPr txBox="1"/>
            <p:nvPr/>
          </p:nvSpPr>
          <p:spPr>
            <a:xfrm>
              <a:off x="1360" y="5725"/>
              <a:ext cx="786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200">
                  <a:latin typeface="华文细黑" charset="-122"/>
                  <a:ea typeface="华文细黑" charset="-122"/>
                </a:rPr>
                <a:t>异地</a:t>
              </a:r>
              <a:endParaRPr lang="zh-CN" altLang="en-US" sz="1200">
                <a:latin typeface="华文细黑" charset="-122"/>
                <a:ea typeface="华文细黑" charset="-122"/>
              </a:endParaRPr>
            </a:p>
          </p:txBody>
        </p:sp>
      </p:grpSp>
      <p:sp>
        <p:nvSpPr>
          <p:cNvPr id="2168" name="文本框 177"/>
          <p:cNvSpPr txBox="1"/>
          <p:nvPr/>
        </p:nvSpPr>
        <p:spPr>
          <a:xfrm>
            <a:off x="565150" y="3395663"/>
            <a:ext cx="595313" cy="70643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r"/>
            <a:r>
              <a:rPr lang="zh-CN" altLang="en-US" sz="1000">
                <a:latin typeface="华文细黑" charset="-122"/>
                <a:ea typeface="华文细黑" charset="-122"/>
              </a:rPr>
              <a:t>站点</a:t>
            </a:r>
            <a:r>
              <a:rPr lang="en-US" altLang="zh-CN" sz="1000">
                <a:latin typeface="华文细黑" charset="-122"/>
                <a:ea typeface="华文细黑" charset="-122"/>
              </a:rPr>
              <a:t>1 </a:t>
            </a:r>
            <a:endParaRPr lang="en-US" altLang="zh-CN" sz="1000">
              <a:latin typeface="华文细黑" charset="-122"/>
              <a:ea typeface="华文细黑" charset="-122"/>
            </a:endParaRPr>
          </a:p>
          <a:p>
            <a:pPr algn="r"/>
            <a:r>
              <a:rPr lang="zh-CN" altLang="en-US" sz="1000">
                <a:latin typeface="华文细黑" charset="-122"/>
                <a:ea typeface="华文细黑" charset="-122"/>
              </a:rPr>
              <a:t>站点</a:t>
            </a:r>
            <a:r>
              <a:rPr lang="en-US" altLang="zh-CN" sz="1000">
                <a:latin typeface="华文细黑" charset="-122"/>
                <a:ea typeface="华文细黑" charset="-122"/>
              </a:rPr>
              <a:t>2</a:t>
            </a:r>
            <a:endParaRPr lang="en-US" altLang="zh-CN" sz="1000">
              <a:latin typeface="华文细黑" charset="-122"/>
              <a:ea typeface="华文细黑" charset="-122"/>
            </a:endParaRPr>
          </a:p>
          <a:p>
            <a:pPr algn="r"/>
            <a:r>
              <a:rPr lang="zh-CN" altLang="en-US" sz="1000">
                <a:latin typeface="华文细黑" charset="-122"/>
                <a:ea typeface="华文细黑" charset="-122"/>
              </a:rPr>
              <a:t>站点</a:t>
            </a:r>
            <a:r>
              <a:rPr lang="en-US" altLang="zh-CN" sz="1000">
                <a:latin typeface="华文细黑" charset="-122"/>
                <a:ea typeface="华文细黑" charset="-122"/>
              </a:rPr>
              <a:t>3</a:t>
            </a:r>
            <a:endParaRPr lang="en-US" altLang="zh-CN" sz="1000">
              <a:latin typeface="华文细黑" charset="-122"/>
              <a:ea typeface="华文细黑" charset="-122"/>
            </a:endParaRPr>
          </a:p>
          <a:p>
            <a:pPr algn="r"/>
            <a:r>
              <a:rPr lang="zh-CN" altLang="en-US" sz="1000">
                <a:latin typeface="华文细黑" charset="-122"/>
                <a:ea typeface="华文细黑" charset="-122"/>
              </a:rPr>
              <a:t>站点</a:t>
            </a:r>
            <a:r>
              <a:rPr lang="en-US" altLang="zh-CN" sz="1000">
                <a:latin typeface="华文细黑" charset="-122"/>
                <a:ea typeface="华文细黑" charset="-122"/>
              </a:rPr>
              <a:t>4</a:t>
            </a:r>
            <a:endParaRPr lang="en-US" altLang="zh-CN" sz="1000">
              <a:latin typeface="华文细黑" charset="-122"/>
              <a:ea typeface="华文细黑" charset="-122"/>
            </a:endParaRPr>
          </a:p>
        </p:txBody>
      </p:sp>
      <p:grpSp>
        <p:nvGrpSpPr>
          <p:cNvPr id="2169" name="组合 178"/>
          <p:cNvGrpSpPr/>
          <p:nvPr/>
        </p:nvGrpSpPr>
        <p:grpSpPr>
          <a:xfrm rot="10800000">
            <a:off x="1093788" y="3505200"/>
            <a:ext cx="227012" cy="488950"/>
            <a:chOff x="2208" y="5589"/>
            <a:chExt cx="357" cy="770"/>
          </a:xfrm>
        </p:grpSpPr>
        <p:cxnSp>
          <p:nvCxnSpPr>
            <p:cNvPr id="180" name="直接连接符 179"/>
            <p:cNvCxnSpPr/>
            <p:nvPr/>
          </p:nvCxnSpPr>
          <p:spPr>
            <a:xfrm>
              <a:off x="2413" y="5589"/>
              <a:ext cx="0" cy="7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 flipH="1" flipV="1">
              <a:off x="2413" y="6357"/>
              <a:ext cx="152" cy="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 flipH="1" flipV="1">
              <a:off x="2413" y="6119"/>
              <a:ext cx="152" cy="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 flipH="1" flipV="1">
              <a:off x="2413" y="5874"/>
              <a:ext cx="152" cy="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 flipH="1" flipV="1">
              <a:off x="2413" y="5589"/>
              <a:ext cx="152" cy="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直接箭头连接符 184"/>
            <p:cNvCxnSpPr/>
            <p:nvPr/>
          </p:nvCxnSpPr>
          <p:spPr>
            <a:xfrm flipH="1">
              <a:off x="2208" y="5969"/>
              <a:ext cx="205" cy="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76" name="组合 188"/>
          <p:cNvGrpSpPr/>
          <p:nvPr/>
        </p:nvGrpSpPr>
        <p:grpSpPr>
          <a:xfrm rot="10800000">
            <a:off x="1841500" y="3024188"/>
            <a:ext cx="268288" cy="733425"/>
            <a:chOff x="10225" y="4989"/>
            <a:chExt cx="424" cy="1154"/>
          </a:xfrm>
        </p:grpSpPr>
        <p:cxnSp>
          <p:nvCxnSpPr>
            <p:cNvPr id="186" name="直接连接符 185"/>
            <p:cNvCxnSpPr/>
            <p:nvPr/>
          </p:nvCxnSpPr>
          <p:spPr>
            <a:xfrm flipH="1">
              <a:off x="10225" y="4996"/>
              <a:ext cx="41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/>
          </p:nvCxnSpPr>
          <p:spPr>
            <a:xfrm flipH="1">
              <a:off x="10233" y="6143"/>
              <a:ext cx="41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/>
          </p:nvCxnSpPr>
          <p:spPr>
            <a:xfrm>
              <a:off x="10225" y="4989"/>
              <a:ext cx="0" cy="115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0" name="直接箭头连接符 189"/>
          <p:cNvCxnSpPr/>
          <p:nvPr/>
        </p:nvCxnSpPr>
        <p:spPr>
          <a:xfrm>
            <a:off x="2117725" y="3406775"/>
            <a:ext cx="447675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4860290" y="3600450"/>
            <a:ext cx="1905" cy="14262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WPS 演示</Application>
  <PresentationFormat/>
  <Paragraphs>69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华文细黑</vt:lpstr>
      <vt:lpstr>微软雅黑</vt:lpstr>
      <vt:lpstr>Arial Unicode MS</vt:lpstr>
      <vt:lpstr>Calibri</vt:lpstr>
      <vt:lpstr>默认设计模板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Thinkpad</dc:creator>
  <cp:lastModifiedBy>Sam.Pao</cp:lastModifiedBy>
  <cp:revision>4</cp:revision>
  <dcterms:created xsi:type="dcterms:W3CDTF">2020-01-01T15:57:00Z</dcterms:created>
  <dcterms:modified xsi:type="dcterms:W3CDTF">2020-01-02T09:22:06Z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2052-11.1.0.9305</vt:lpwstr>
  </property>
</Properties>
</file>